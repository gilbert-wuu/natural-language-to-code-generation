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Alexandria Medium"/>
      <p:regular r:id="rId20"/>
      <p:bold r:id="rId21"/>
    </p:embeddedFont>
    <p:embeddedFont>
      <p:font typeface="Albert Sans Medium"/>
      <p:regular r:id="rId22"/>
      <p:bold r:id="rId23"/>
      <p:italic r:id="rId24"/>
      <p:boldItalic r:id="rId25"/>
    </p:embeddedFont>
    <p:embeddedFont>
      <p:font typeface="Albert Sans"/>
      <p:regular r:id="rId26"/>
      <p:bold r:id="rId27"/>
      <p:italic r:id="rId28"/>
      <p:boldItalic r:id="rId29"/>
    </p:embeddedFont>
    <p:embeddedFont>
      <p:font typeface="Alexandri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exandriaMedium-regular.fntdata"/><Relationship Id="rId22" Type="http://schemas.openxmlformats.org/officeDocument/2006/relationships/font" Target="fonts/AlbertSansMedium-regular.fntdata"/><Relationship Id="rId21" Type="http://schemas.openxmlformats.org/officeDocument/2006/relationships/font" Target="fonts/AlexandriaMedium-bold.fntdata"/><Relationship Id="rId24" Type="http://schemas.openxmlformats.org/officeDocument/2006/relationships/font" Target="fonts/AlbertSansMedium-italic.fntdata"/><Relationship Id="rId23" Type="http://schemas.openxmlformats.org/officeDocument/2006/relationships/font" Target="fonts/AlbertSansMedium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lbertSans-regular.fntdata"/><Relationship Id="rId25" Type="http://schemas.openxmlformats.org/officeDocument/2006/relationships/font" Target="fonts/AlbertSansMedium-boldItalic.fntdata"/><Relationship Id="rId28" Type="http://schemas.openxmlformats.org/officeDocument/2006/relationships/font" Target="fonts/AlbertSans-italic.fntdata"/><Relationship Id="rId27" Type="http://schemas.openxmlformats.org/officeDocument/2006/relationships/font" Target="fonts/Albert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lbert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lexandria-bold.fntdata"/><Relationship Id="rId30" Type="http://schemas.openxmlformats.org/officeDocument/2006/relationships/font" Target="fonts/Alexandria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a6c6a59f1_0_16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a6c6a59f1_0_16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6c6a59f1_0_16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a6c6a59f1_0_16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6c6a59f1_0_23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a6c6a59f1_0_23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a6c6a59f1_0_24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a6c6a59f1_0_24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b9e1a84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b9e1a84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for our ICL setup, we tried five different prompt styles — baseline, 0-shot, 1-shot, 3-shot, and 5-shot. We first ran all of them on the first 100 problems of MBPP to see which one actually works best.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bcb2d40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abcb2d40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Surprisingly, for Deepseek-Coder-1.3B, the simple baseline prompt beat every few-shot version by a pretty large margin. So we took that baseline and tested it again on HumanEval and HumanEval+, and the pattern stayed the same — baseline consistently outperformed all the ICL prompts.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Our takeaway is that for small models, long prefixes look more like noise than helpful examples. So keeping the prompt short actually gives us the best performance.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1326fce8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91326fce8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 In our prompt selection experiment, the 5-shot configuration achieved 35% accuracy, representing a 75% relative improvement over the baseline. And The performance increases monoton-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ically with the number of shots, indicating effective pattern learning from examples. The ICL evaluation results for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the model on human eval 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achieves 88.41% pass@1 with 5-shot ICL configuration. 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a6c6a59f1_0_16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a6c6a59f1_0_16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a6c6a59f1_0_23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a6c6a59f1_0_23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a6c6a59f1_0_24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aa6c6a59f1_0_24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a6c6a59f1_0_24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a6c6a59f1_0_24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a6c6a59f1_0_24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a6c6a59f1_0_24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a6c6a59f1_0_24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a6c6a59f1_0_24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 b="2272" l="-19689" r="19690" t="414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5"/>
          <p:cNvPicPr preferRelativeResize="0"/>
          <p:nvPr/>
        </p:nvPicPr>
        <p:blipFill rotWithShape="1">
          <a:blip r:embed="rId3">
            <a:alphaModFix/>
          </a:blip>
          <a:srcRect b="-40" l="36283" r="-6" t="3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hasCustomPrompt="1" idx="2" type="title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 b="41635" l="174697" r="177064" t="-83399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715100" y="1636300"/>
            <a:ext cx="3856800" cy="189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16"/>
          <p:cNvSpPr/>
          <p:nvPr>
            <p:ph idx="2" type="pic"/>
          </p:nvPr>
        </p:nvSpPr>
        <p:spPr>
          <a:xfrm>
            <a:off x="5715175" y="75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idx="2" type="subTitle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8"/>
          <p:cNvPicPr preferRelativeResize="0"/>
          <p:nvPr/>
        </p:nvPicPr>
        <p:blipFill rotWithShape="1">
          <a:blip r:embed="rId2">
            <a:alphaModFix/>
          </a:blip>
          <a:srcRect b="47851" l="104756" r="280062" t="-108210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8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 b="34585" l="130683" r="175247" t="-50527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9"/>
          <p:cNvSpPr txBox="1"/>
          <p:nvPr>
            <p:ph type="title"/>
          </p:nvPr>
        </p:nvSpPr>
        <p:spPr>
          <a:xfrm>
            <a:off x="715100" y="535000"/>
            <a:ext cx="3856800" cy="9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715100" y="1641400"/>
            <a:ext cx="3856800" cy="72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9"/>
          <p:cNvSpPr/>
          <p:nvPr>
            <p:ph idx="2" type="pic"/>
          </p:nvPr>
        </p:nvSpPr>
        <p:spPr>
          <a:xfrm>
            <a:off x="5714900" y="-75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0"/>
          <p:cNvPicPr preferRelativeResize="0"/>
          <p:nvPr/>
        </p:nvPicPr>
        <p:blipFill rotWithShape="1">
          <a:blip r:embed="rId2">
            <a:alphaModFix/>
          </a:blip>
          <a:srcRect b="2272" l="-19689" r="19690" t="414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 txBox="1"/>
          <p:nvPr>
            <p:ph type="title"/>
          </p:nvPr>
        </p:nvSpPr>
        <p:spPr>
          <a:xfrm>
            <a:off x="715100" y="535000"/>
            <a:ext cx="7713900" cy="23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1"/>
          <p:cNvPicPr preferRelativeResize="0"/>
          <p:nvPr/>
        </p:nvPicPr>
        <p:blipFill rotWithShape="1">
          <a:blip r:embed="rId2">
            <a:alphaModFix/>
          </a:blip>
          <a:srcRect b="-26994" l="7043" r="-48486" t="47434"/>
          <a:stretch/>
        </p:blipFill>
        <p:spPr>
          <a:xfrm flipH="1" rot="10800000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1"/>
          <p:cNvSpPr txBox="1"/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21"/>
          <p:cNvSpPr txBox="1"/>
          <p:nvPr>
            <p:ph idx="1" type="subTitle"/>
          </p:nvPr>
        </p:nvSpPr>
        <p:spPr>
          <a:xfrm>
            <a:off x="4572000" y="3358100"/>
            <a:ext cx="3856800" cy="12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2"/>
          <p:cNvSpPr txBox="1"/>
          <p:nvPr>
            <p:ph type="title"/>
          </p:nvPr>
        </p:nvSpPr>
        <p:spPr>
          <a:xfrm>
            <a:off x="715100" y="4059800"/>
            <a:ext cx="7713600" cy="548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3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715100" y="3068600"/>
            <a:ext cx="7713900" cy="15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subTitle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>
            <p:ph hasCustomPrompt="1" type="title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02" name="Google Shape;102;p25"/>
          <p:cNvSpPr txBox="1"/>
          <p:nvPr>
            <p:ph idx="2"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" name="Google Shape;103;p25"/>
          <p:cNvSpPr txBox="1"/>
          <p:nvPr>
            <p:ph hasCustomPrompt="1" idx="3" type="title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25"/>
          <p:cNvSpPr txBox="1"/>
          <p:nvPr>
            <p:ph idx="4" type="subTitle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hasCustomPrompt="1" idx="5" type="title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25"/>
          <p:cNvSpPr txBox="1"/>
          <p:nvPr>
            <p:ph idx="6" type="subTitle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07" name="Google Shape;107;p25"/>
          <p:cNvSpPr txBox="1"/>
          <p:nvPr>
            <p:ph hasCustomPrompt="1" idx="7" type="title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25"/>
          <p:cNvSpPr txBox="1"/>
          <p:nvPr>
            <p:ph idx="8" type="subTitle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09" name="Google Shape;109;p25"/>
          <p:cNvSpPr txBox="1"/>
          <p:nvPr>
            <p:ph hasCustomPrompt="1" idx="9" type="title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25"/>
          <p:cNvSpPr txBox="1"/>
          <p:nvPr>
            <p:ph idx="13" type="subTitle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11" name="Google Shape;111;p25"/>
          <p:cNvSpPr txBox="1"/>
          <p:nvPr>
            <p:ph hasCustomPrompt="1" idx="14" type="title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25"/>
          <p:cNvSpPr txBox="1"/>
          <p:nvPr>
            <p:ph idx="15" type="subTitle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hasCustomPrompt="1" idx="16" type="title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25"/>
          <p:cNvSpPr txBox="1"/>
          <p:nvPr>
            <p:ph idx="17" type="subTitle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15" name="Google Shape;115;p25"/>
          <p:cNvSpPr txBox="1"/>
          <p:nvPr>
            <p:ph hasCustomPrompt="1" idx="18" type="title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25"/>
          <p:cNvSpPr txBox="1"/>
          <p:nvPr>
            <p:ph idx="19" type="subTitle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6"/>
          <p:cNvPicPr preferRelativeResize="0"/>
          <p:nvPr/>
        </p:nvPicPr>
        <p:blipFill rotWithShape="1">
          <a:blip r:embed="rId2">
            <a:alphaModFix/>
          </a:blip>
          <a:srcRect b="-35825" l="-6643" r="27548" t="13471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6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6"/>
          <p:cNvSpPr txBox="1"/>
          <p:nvPr>
            <p:ph idx="1" type="subTitle"/>
          </p:nvPr>
        </p:nvSpPr>
        <p:spPr>
          <a:xfrm>
            <a:off x="715100" y="1503175"/>
            <a:ext cx="5930100" cy="20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1" name="Google Shape;121;p26"/>
          <p:cNvSpPr txBox="1"/>
          <p:nvPr>
            <p:ph idx="2" type="subTitle"/>
          </p:nvPr>
        </p:nvSpPr>
        <p:spPr>
          <a:xfrm>
            <a:off x="715100" y="3965300"/>
            <a:ext cx="5930100" cy="45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7"/>
          <p:cNvPicPr preferRelativeResize="0"/>
          <p:nvPr/>
        </p:nvPicPr>
        <p:blipFill rotWithShape="1">
          <a:blip r:embed="rId2">
            <a:alphaModFix/>
          </a:blip>
          <a:srcRect b="2272" l="-19689" r="19690" t="41478"/>
          <a:stretch/>
        </p:blipFill>
        <p:spPr>
          <a:xfrm flipH="1" rot="10800000">
            <a:off x="0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7"/>
          <p:cNvSpPr txBox="1"/>
          <p:nvPr>
            <p:ph type="title"/>
          </p:nvPr>
        </p:nvSpPr>
        <p:spPr>
          <a:xfrm>
            <a:off x="715100" y="2259575"/>
            <a:ext cx="4276800" cy="231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7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4572000" y="535000"/>
            <a:ext cx="3856500" cy="80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8"/>
          <p:cNvPicPr preferRelativeResize="0"/>
          <p:nvPr/>
        </p:nvPicPr>
        <p:blipFill rotWithShape="1">
          <a:blip r:embed="rId2">
            <a:alphaModFix/>
          </a:blip>
          <a:srcRect b="-26994" l="7043" r="-48486" t="47434"/>
          <a:stretch/>
        </p:blipFill>
        <p:spPr>
          <a:xfrm flipH="1" rot="10800000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8"/>
          <p:cNvSpPr txBox="1"/>
          <p:nvPr>
            <p:ph type="title"/>
          </p:nvPr>
        </p:nvSpPr>
        <p:spPr>
          <a:xfrm>
            <a:off x="715100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28"/>
          <p:cNvSpPr txBox="1"/>
          <p:nvPr>
            <p:ph idx="1" type="body"/>
          </p:nvPr>
        </p:nvSpPr>
        <p:spPr>
          <a:xfrm>
            <a:off x="715100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9"/>
          <p:cNvPicPr preferRelativeResize="0"/>
          <p:nvPr/>
        </p:nvPicPr>
        <p:blipFill rotWithShape="1">
          <a:blip r:embed="rId2">
            <a:alphaModFix/>
          </a:blip>
          <a:srcRect b="-5849" l="-50000" r="50000" t="496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9"/>
          <p:cNvSpPr txBox="1"/>
          <p:nvPr>
            <p:ph type="title"/>
          </p:nvPr>
        </p:nvSpPr>
        <p:spPr>
          <a:xfrm>
            <a:off x="43022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>
            <a:off x="43022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30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0"/>
          <p:cNvSpPr txBox="1"/>
          <p:nvPr>
            <p:ph type="title"/>
          </p:nvPr>
        </p:nvSpPr>
        <p:spPr>
          <a:xfrm>
            <a:off x="15454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" name="Google Shape;137;p30"/>
          <p:cNvSpPr txBox="1"/>
          <p:nvPr>
            <p:ph idx="1" type="body"/>
          </p:nvPr>
        </p:nvSpPr>
        <p:spPr>
          <a:xfrm>
            <a:off x="15454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1"/>
          <p:cNvPicPr preferRelativeResize="0"/>
          <p:nvPr/>
        </p:nvPicPr>
        <p:blipFill rotWithShape="1">
          <a:blip r:embed="rId2">
            <a:alphaModFix/>
          </a:blip>
          <a:srcRect b="-5849" l="-50000" r="50000" t="496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1"/>
          <p:cNvSpPr txBox="1"/>
          <p:nvPr>
            <p:ph idx="1" type="subTitle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31"/>
          <p:cNvSpPr txBox="1"/>
          <p:nvPr>
            <p:ph idx="2" type="subTitle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3" type="subTitle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44" name="Google Shape;144;p31"/>
          <p:cNvSpPr txBox="1"/>
          <p:nvPr>
            <p:ph idx="4" type="subTitle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2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2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flipH="1" rot="10800000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2"/>
          <p:cNvSpPr txBox="1"/>
          <p:nvPr>
            <p:ph idx="1" type="subTitle"/>
          </p:nvPr>
        </p:nvSpPr>
        <p:spPr>
          <a:xfrm>
            <a:off x="715100" y="23287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32"/>
          <p:cNvSpPr txBox="1"/>
          <p:nvPr>
            <p:ph idx="2" type="subTitle"/>
          </p:nvPr>
        </p:nvSpPr>
        <p:spPr>
          <a:xfrm>
            <a:off x="7151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51" name="Google Shape;151;p32"/>
          <p:cNvSpPr txBox="1"/>
          <p:nvPr>
            <p:ph idx="3" type="subTitle"/>
          </p:nvPr>
        </p:nvSpPr>
        <p:spPr>
          <a:xfrm>
            <a:off x="3506100" y="23287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4" type="subTitle"/>
          </p:nvPr>
        </p:nvSpPr>
        <p:spPr>
          <a:xfrm>
            <a:off x="3506099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53" name="Google Shape;153;p32"/>
          <p:cNvSpPr txBox="1"/>
          <p:nvPr>
            <p:ph idx="5" type="subTitle"/>
          </p:nvPr>
        </p:nvSpPr>
        <p:spPr>
          <a:xfrm>
            <a:off x="6297202" y="23287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6" type="subTitle"/>
          </p:nvPr>
        </p:nvSpPr>
        <p:spPr>
          <a:xfrm>
            <a:off x="62972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3"/>
          <p:cNvPicPr preferRelativeResize="0"/>
          <p:nvPr/>
        </p:nvPicPr>
        <p:blipFill rotWithShape="1">
          <a:blip r:embed="rId2">
            <a:alphaModFix/>
          </a:blip>
          <a:srcRect b="-5849" l="-50000" r="50000" t="496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3"/>
          <p:cNvSpPr txBox="1"/>
          <p:nvPr>
            <p:ph idx="1" type="subTitle"/>
          </p:nvPr>
        </p:nvSpPr>
        <p:spPr>
          <a:xfrm>
            <a:off x="715100" y="3758613"/>
            <a:ext cx="213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8" name="Google Shape;158;p33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33"/>
          <p:cNvSpPr txBox="1"/>
          <p:nvPr>
            <p:ph idx="2" type="subTitle"/>
          </p:nvPr>
        </p:nvSpPr>
        <p:spPr>
          <a:xfrm>
            <a:off x="7151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60" name="Google Shape;160;p33"/>
          <p:cNvSpPr txBox="1"/>
          <p:nvPr>
            <p:ph idx="3" type="subTitle"/>
          </p:nvPr>
        </p:nvSpPr>
        <p:spPr>
          <a:xfrm>
            <a:off x="3506099" y="3758613"/>
            <a:ext cx="213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1" name="Google Shape;161;p33"/>
          <p:cNvSpPr txBox="1"/>
          <p:nvPr>
            <p:ph idx="4" type="subTitle"/>
          </p:nvPr>
        </p:nvSpPr>
        <p:spPr>
          <a:xfrm>
            <a:off x="3506099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62" name="Google Shape;162;p33"/>
          <p:cNvSpPr txBox="1"/>
          <p:nvPr>
            <p:ph idx="5" type="subTitle"/>
          </p:nvPr>
        </p:nvSpPr>
        <p:spPr>
          <a:xfrm>
            <a:off x="6297200" y="3758613"/>
            <a:ext cx="213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3" name="Google Shape;163;p33"/>
          <p:cNvSpPr txBox="1"/>
          <p:nvPr>
            <p:ph idx="6" type="subTitle"/>
          </p:nvPr>
        </p:nvSpPr>
        <p:spPr>
          <a:xfrm>
            <a:off x="62972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4"/>
          <p:cNvPicPr preferRelativeResize="0"/>
          <p:nvPr/>
        </p:nvPicPr>
        <p:blipFill rotWithShape="1">
          <a:blip r:embed="rId2">
            <a:alphaModFix/>
          </a:blip>
          <a:srcRect b="47851" l="104756" r="280062" t="-108210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4"/>
          <p:cNvSpPr txBox="1"/>
          <p:nvPr>
            <p:ph idx="1" type="subTitle"/>
          </p:nvPr>
        </p:nvSpPr>
        <p:spPr>
          <a:xfrm>
            <a:off x="715100" y="20465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34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34"/>
          <p:cNvSpPr txBox="1"/>
          <p:nvPr>
            <p:ph idx="2" type="subTitle"/>
          </p:nvPr>
        </p:nvSpPr>
        <p:spPr>
          <a:xfrm>
            <a:off x="715100" y="32990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9" name="Google Shape;169;p34"/>
          <p:cNvSpPr txBox="1"/>
          <p:nvPr>
            <p:ph idx="3" type="subTitle"/>
          </p:nvPr>
        </p:nvSpPr>
        <p:spPr>
          <a:xfrm>
            <a:off x="7151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70" name="Google Shape;170;p34"/>
          <p:cNvSpPr txBox="1"/>
          <p:nvPr>
            <p:ph idx="4" type="subTitle"/>
          </p:nvPr>
        </p:nvSpPr>
        <p:spPr>
          <a:xfrm>
            <a:off x="7151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71" name="Google Shape;171;p34"/>
          <p:cNvSpPr txBox="1"/>
          <p:nvPr>
            <p:ph idx="5" type="subTitle"/>
          </p:nvPr>
        </p:nvSpPr>
        <p:spPr>
          <a:xfrm>
            <a:off x="4648300" y="20465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34"/>
          <p:cNvSpPr txBox="1"/>
          <p:nvPr>
            <p:ph idx="6" type="subTitle"/>
          </p:nvPr>
        </p:nvSpPr>
        <p:spPr>
          <a:xfrm>
            <a:off x="4648300" y="32990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34"/>
          <p:cNvSpPr txBox="1"/>
          <p:nvPr>
            <p:ph idx="7" type="subTitle"/>
          </p:nvPr>
        </p:nvSpPr>
        <p:spPr>
          <a:xfrm>
            <a:off x="46483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74" name="Google Shape;174;p34"/>
          <p:cNvSpPr txBox="1"/>
          <p:nvPr>
            <p:ph idx="8" type="subTitle"/>
          </p:nvPr>
        </p:nvSpPr>
        <p:spPr>
          <a:xfrm>
            <a:off x="46483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/>
          <p:nvPr>
            <p:ph idx="1" type="subTitle"/>
          </p:nvPr>
        </p:nvSpPr>
        <p:spPr>
          <a:xfrm>
            <a:off x="715100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7" name="Google Shape;177;p35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idx="2" type="subTitle"/>
          </p:nvPr>
        </p:nvSpPr>
        <p:spPr>
          <a:xfrm>
            <a:off x="715100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35"/>
          <p:cNvSpPr txBox="1"/>
          <p:nvPr>
            <p:ph idx="3" type="subTitle"/>
          </p:nvPr>
        </p:nvSpPr>
        <p:spPr>
          <a:xfrm>
            <a:off x="715100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80" name="Google Shape;180;p35"/>
          <p:cNvSpPr txBox="1"/>
          <p:nvPr>
            <p:ph idx="4" type="subTitle"/>
          </p:nvPr>
        </p:nvSpPr>
        <p:spPr>
          <a:xfrm>
            <a:off x="715100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81" name="Google Shape;181;p35"/>
          <p:cNvSpPr txBox="1"/>
          <p:nvPr>
            <p:ph idx="5" type="subTitle"/>
          </p:nvPr>
        </p:nvSpPr>
        <p:spPr>
          <a:xfrm>
            <a:off x="3355799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35"/>
          <p:cNvSpPr txBox="1"/>
          <p:nvPr>
            <p:ph idx="6" type="subTitle"/>
          </p:nvPr>
        </p:nvSpPr>
        <p:spPr>
          <a:xfrm>
            <a:off x="3355799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35"/>
          <p:cNvSpPr txBox="1"/>
          <p:nvPr>
            <p:ph idx="7" type="subTitle"/>
          </p:nvPr>
        </p:nvSpPr>
        <p:spPr>
          <a:xfrm>
            <a:off x="3355800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84" name="Google Shape;184;p35"/>
          <p:cNvSpPr txBox="1"/>
          <p:nvPr>
            <p:ph idx="8" type="subTitle"/>
          </p:nvPr>
        </p:nvSpPr>
        <p:spPr>
          <a:xfrm>
            <a:off x="3355800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85" name="Google Shape;185;p35"/>
          <p:cNvSpPr txBox="1"/>
          <p:nvPr>
            <p:ph idx="9" type="subTitle"/>
          </p:nvPr>
        </p:nvSpPr>
        <p:spPr>
          <a:xfrm>
            <a:off x="5996501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6" name="Google Shape;186;p35"/>
          <p:cNvSpPr txBox="1"/>
          <p:nvPr>
            <p:ph idx="13" type="subTitle"/>
          </p:nvPr>
        </p:nvSpPr>
        <p:spPr>
          <a:xfrm>
            <a:off x="5996501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" name="Google Shape;187;p35"/>
          <p:cNvSpPr txBox="1"/>
          <p:nvPr>
            <p:ph idx="14" type="subTitle"/>
          </p:nvPr>
        </p:nvSpPr>
        <p:spPr>
          <a:xfrm>
            <a:off x="5996503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88" name="Google Shape;188;p35"/>
          <p:cNvSpPr txBox="1"/>
          <p:nvPr>
            <p:ph idx="15" type="subTitle"/>
          </p:nvPr>
        </p:nvSpPr>
        <p:spPr>
          <a:xfrm>
            <a:off x="5996503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6"/>
          <p:cNvPicPr preferRelativeResize="0"/>
          <p:nvPr/>
        </p:nvPicPr>
        <p:blipFill rotWithShape="1">
          <a:blip r:embed="rId2">
            <a:alphaModFix/>
          </a:blip>
          <a:srcRect b="-5849" l="-50000" r="50000" t="496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6"/>
          <p:cNvSpPr txBox="1"/>
          <p:nvPr>
            <p:ph hasCustomPrompt="1" type="title"/>
          </p:nvPr>
        </p:nvSpPr>
        <p:spPr>
          <a:xfrm>
            <a:off x="715100" y="983000"/>
            <a:ext cx="7713900" cy="9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2" name="Google Shape;192;p36"/>
          <p:cNvSpPr txBox="1"/>
          <p:nvPr>
            <p:ph idx="1" type="subTitle"/>
          </p:nvPr>
        </p:nvSpPr>
        <p:spPr>
          <a:xfrm>
            <a:off x="715100" y="1858700"/>
            <a:ext cx="77139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36"/>
          <p:cNvSpPr txBox="1"/>
          <p:nvPr>
            <p:ph hasCustomPrompt="1" idx="2" type="title"/>
          </p:nvPr>
        </p:nvSpPr>
        <p:spPr>
          <a:xfrm>
            <a:off x="715100" y="2921600"/>
            <a:ext cx="7713900" cy="9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4" name="Google Shape;194;p36"/>
          <p:cNvSpPr txBox="1"/>
          <p:nvPr>
            <p:ph idx="3" type="subTitle"/>
          </p:nvPr>
        </p:nvSpPr>
        <p:spPr>
          <a:xfrm>
            <a:off x="715100" y="3797300"/>
            <a:ext cx="77139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7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7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hasCustomPrompt="1" idx="2" type="title"/>
          </p:nvPr>
        </p:nvSpPr>
        <p:spPr>
          <a:xfrm>
            <a:off x="715100" y="25323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9" name="Google Shape;199;p37"/>
          <p:cNvSpPr txBox="1"/>
          <p:nvPr>
            <p:ph idx="1" type="subTitle"/>
          </p:nvPr>
        </p:nvSpPr>
        <p:spPr>
          <a:xfrm>
            <a:off x="715100" y="3291950"/>
            <a:ext cx="3780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37"/>
          <p:cNvSpPr txBox="1"/>
          <p:nvPr>
            <p:ph idx="3" type="subTitle"/>
          </p:nvPr>
        </p:nvSpPr>
        <p:spPr>
          <a:xfrm>
            <a:off x="715100" y="29121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4" type="subTitle"/>
          </p:nvPr>
        </p:nvSpPr>
        <p:spPr>
          <a:xfrm>
            <a:off x="4648300" y="3291950"/>
            <a:ext cx="3780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" name="Google Shape;202;p37"/>
          <p:cNvSpPr txBox="1"/>
          <p:nvPr>
            <p:ph idx="5" type="subTitle"/>
          </p:nvPr>
        </p:nvSpPr>
        <p:spPr>
          <a:xfrm>
            <a:off x="4648300" y="29121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hasCustomPrompt="1" idx="6" type="title"/>
          </p:nvPr>
        </p:nvSpPr>
        <p:spPr>
          <a:xfrm>
            <a:off x="4648300" y="25323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9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9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flipH="1" rot="10800000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9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"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40"/>
          <p:cNvPicPr preferRelativeResize="0"/>
          <p:nvPr/>
        </p:nvPicPr>
        <p:blipFill rotWithShape="1">
          <a:blip r:embed="rId2">
            <a:alphaModFix/>
          </a:blip>
          <a:srcRect b="-11170" l="-6643" r="27548" t="-11183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40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1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1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1"/>
          <p:cNvSpPr txBox="1"/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7" name="Google Shape;217;p41"/>
          <p:cNvSpPr txBox="1"/>
          <p:nvPr>
            <p:ph idx="1" type="subTitle"/>
          </p:nvPr>
        </p:nvSpPr>
        <p:spPr>
          <a:xfrm>
            <a:off x="4571900" y="535000"/>
            <a:ext cx="2683800" cy="1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8" name="Google Shape;218;p41"/>
          <p:cNvSpPr txBox="1"/>
          <p:nvPr/>
        </p:nvSpPr>
        <p:spPr>
          <a:xfrm>
            <a:off x="4571863" y="2278000"/>
            <a:ext cx="26838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2"/>
          <p:cNvPicPr preferRelativeResize="0"/>
          <p:nvPr/>
        </p:nvPicPr>
        <p:blipFill rotWithShape="1">
          <a:blip r:embed="rId2">
            <a:alphaModFix/>
          </a:blip>
          <a:srcRect b="-35825" l="-6643" r="27548" t="13471"/>
          <a:stretch/>
        </p:blipFill>
        <p:spPr>
          <a:xfrm flipH="1">
            <a:off x="-10682" y="-2437"/>
            <a:ext cx="33212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2"/>
          <p:cNvPicPr preferRelativeResize="0"/>
          <p:nvPr/>
        </p:nvPicPr>
        <p:blipFill rotWithShape="1">
          <a:blip r:embed="rId2">
            <a:alphaModFix/>
          </a:blip>
          <a:srcRect b="-108521" l="-235242" r="44460" t="44962"/>
          <a:stretch/>
        </p:blipFill>
        <p:spPr>
          <a:xfrm flipH="1" rot="10800000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3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3"/>
          <p:cNvPicPr preferRelativeResize="0"/>
          <p:nvPr/>
        </p:nvPicPr>
        <p:blipFill rotWithShape="1">
          <a:blip r:embed="rId2">
            <a:alphaModFix/>
          </a:blip>
          <a:srcRect b="-6811" l="-55210" r="55209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 txBox="1"/>
          <p:nvPr>
            <p:ph type="ctrTitle"/>
          </p:nvPr>
        </p:nvSpPr>
        <p:spPr>
          <a:xfrm>
            <a:off x="711750" y="1958600"/>
            <a:ext cx="7473600" cy="26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Natural Language to Code Generation</a:t>
            </a:r>
            <a:endParaRPr sz="5000"/>
          </a:p>
        </p:txBody>
      </p:sp>
      <p:sp>
        <p:nvSpPr>
          <p:cNvPr id="230" name="Google Shape;230;p44"/>
          <p:cNvSpPr txBox="1"/>
          <p:nvPr>
            <p:ph idx="1" type="subTitle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Arthur Chien, Gilbert Wu, Yaxuan Mao</a:t>
            </a:r>
            <a:endParaRPr/>
          </a:p>
        </p:txBody>
      </p:sp>
      <p:cxnSp>
        <p:nvCxnSpPr>
          <p:cNvPr id="231" name="Google Shape;231;p44">
            <a:hlinkClick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5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Utilized</a:t>
            </a:r>
            <a:endParaRPr/>
          </a:p>
        </p:txBody>
      </p:sp>
      <p:sp>
        <p:nvSpPr>
          <p:cNvPr id="237" name="Google Shape;237;p45"/>
          <p:cNvSpPr txBox="1"/>
          <p:nvPr/>
        </p:nvSpPr>
        <p:spPr>
          <a:xfrm>
            <a:off x="606769" y="1811250"/>
            <a:ext cx="42510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lexandria"/>
                <a:ea typeface="Alexandria"/>
                <a:cs typeface="Alexandria"/>
                <a:sym typeface="Alexandria"/>
              </a:rPr>
              <a:t>In-Context Learning</a:t>
            </a:r>
            <a:endParaRPr b="1" sz="1500"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Alexandria"/>
                <a:ea typeface="Alexandria"/>
                <a:cs typeface="Alexandria"/>
                <a:sym typeface="Alexandria"/>
              </a:rPr>
              <a:t>Leveraging powerful, small coding models:</a:t>
            </a:r>
            <a:endParaRPr sz="1500">
              <a:latin typeface="Alexandria"/>
              <a:ea typeface="Alexandria"/>
              <a:cs typeface="Alexandria"/>
              <a:sym typeface="Alexandr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lexandria"/>
              <a:buChar char="●"/>
            </a:pPr>
            <a:r>
              <a:rPr lang="en" sz="1500">
                <a:latin typeface="Alexandria"/>
                <a:ea typeface="Alexandria"/>
                <a:cs typeface="Alexandria"/>
                <a:sym typeface="Alexandria"/>
              </a:rPr>
              <a:t>Qwen2.5-Coder-3B-Instruct</a:t>
            </a:r>
            <a:endParaRPr sz="1500">
              <a:latin typeface="Alexandria"/>
              <a:ea typeface="Alexandria"/>
              <a:cs typeface="Alexandria"/>
              <a:sym typeface="Alexandr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lexandria"/>
              <a:buChar char="●"/>
            </a:pPr>
            <a:r>
              <a:rPr lang="en" sz="1500">
                <a:latin typeface="Alexandria"/>
                <a:ea typeface="Alexandria"/>
                <a:cs typeface="Alexandria"/>
                <a:sym typeface="Alexandria"/>
              </a:rPr>
              <a:t>Deepseek-Coder-1.3B-Instruct</a:t>
            </a:r>
            <a:endParaRPr b="1" sz="1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38" name="Google Shape;238;p45"/>
          <p:cNvSpPr/>
          <p:nvPr/>
        </p:nvSpPr>
        <p:spPr>
          <a:xfrm>
            <a:off x="553175" y="1813075"/>
            <a:ext cx="61500" cy="1520100"/>
          </a:xfrm>
          <a:prstGeom prst="rect">
            <a:avLst/>
          </a:prstGeom>
          <a:solidFill>
            <a:srgbClr val="135669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39" name="Google Shape;239;p45"/>
          <p:cNvSpPr txBox="1"/>
          <p:nvPr/>
        </p:nvSpPr>
        <p:spPr>
          <a:xfrm>
            <a:off x="5116475" y="1810325"/>
            <a:ext cx="46563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lexandria"/>
                <a:ea typeface="Alexandria"/>
                <a:cs typeface="Alexandria"/>
                <a:sym typeface="Alexandria"/>
              </a:rPr>
              <a:t>Supervised Fine-Tuning (SFT)</a:t>
            </a:r>
            <a:endParaRPr b="1" sz="1500"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Alexandria"/>
                <a:ea typeface="Alexandria"/>
                <a:cs typeface="Alexandria"/>
                <a:sym typeface="Alexandria"/>
              </a:rPr>
              <a:t>Instruction Tuning with LoRA</a:t>
            </a:r>
            <a:endParaRPr sz="1500">
              <a:latin typeface="Alexandria"/>
              <a:ea typeface="Alexandria"/>
              <a:cs typeface="Alexandria"/>
              <a:sym typeface="Alexandr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lexandria"/>
              <a:buChar char="●"/>
            </a:pPr>
            <a:r>
              <a:rPr lang="en" sz="1500">
                <a:latin typeface="Alexandria"/>
                <a:ea typeface="Alexandria"/>
                <a:cs typeface="Alexandria"/>
                <a:sym typeface="Alexandria"/>
              </a:rPr>
              <a:t>Qwen2.5-Coder-3B (Base)</a:t>
            </a:r>
            <a:endParaRPr sz="1500">
              <a:latin typeface="Alexandria"/>
              <a:ea typeface="Alexandria"/>
              <a:cs typeface="Alexandria"/>
              <a:sym typeface="Alexandr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lexandria"/>
              <a:buChar char="●"/>
            </a:pPr>
            <a:r>
              <a:rPr lang="en" sz="1500">
                <a:latin typeface="Alexandria"/>
                <a:ea typeface="Alexandria"/>
                <a:cs typeface="Alexandria"/>
                <a:sym typeface="Alexandria"/>
              </a:rPr>
              <a:t>Deepseek-Coder-1.3B (Base)</a:t>
            </a:r>
            <a:endParaRPr b="1" sz="15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40" name="Google Shape;240;p45"/>
          <p:cNvSpPr/>
          <p:nvPr/>
        </p:nvSpPr>
        <p:spPr>
          <a:xfrm>
            <a:off x="5057770" y="1812150"/>
            <a:ext cx="67500" cy="1520100"/>
          </a:xfrm>
          <a:prstGeom prst="rect">
            <a:avLst/>
          </a:prstGeom>
          <a:solidFill>
            <a:srgbClr val="135669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6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CodeAlpaca-20k Dataset</a:t>
            </a:r>
            <a:endParaRPr/>
          </a:p>
        </p:txBody>
      </p:sp>
      <p:sp>
        <p:nvSpPr>
          <p:cNvPr id="246" name="Google Shape;246;p46"/>
          <p:cNvSpPr/>
          <p:nvPr/>
        </p:nvSpPr>
        <p:spPr>
          <a:xfrm>
            <a:off x="897700" y="1309225"/>
            <a:ext cx="2571900" cy="10104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2"/>
          </a:solidFill>
          <a:ln cap="flat" cmpd="sng" w="9525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Albert Sans"/>
                <a:ea typeface="Albert Sans"/>
                <a:cs typeface="Albert Sans"/>
                <a:sym typeface="Albert Sans"/>
              </a:rPr>
              <a:t>~20,000 instruction–response pairs (18k train / 2k test).</a:t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7" name="Google Shape;247;p46"/>
          <p:cNvSpPr/>
          <p:nvPr/>
        </p:nvSpPr>
        <p:spPr>
          <a:xfrm>
            <a:off x="897700" y="2526875"/>
            <a:ext cx="2571900" cy="10104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2"/>
          </a:solidFill>
          <a:ln cap="flat" cmpd="sng" w="9525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Albert Sans"/>
                <a:ea typeface="Albert Sans"/>
                <a:cs typeface="Albert Sans"/>
                <a:sym typeface="Albert Sans"/>
              </a:rPr>
              <a:t>Covers Python, JavaScript, Java, C++.</a:t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8" name="Google Shape;248;p46"/>
          <p:cNvSpPr/>
          <p:nvPr/>
        </p:nvSpPr>
        <p:spPr>
          <a:xfrm>
            <a:off x="873850" y="3744513"/>
            <a:ext cx="2619600" cy="10104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2"/>
          </a:solidFill>
          <a:ln cap="flat" cmpd="sng" w="9525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Albert Sans"/>
                <a:ea typeface="Albert Sans"/>
                <a:cs typeface="Albert Sans"/>
                <a:sym typeface="Albert Sans"/>
              </a:rPr>
              <a:t>Includes code generation, debugging, refactoring.</a:t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49" name="Google Shape;249;p46"/>
          <p:cNvGrpSpPr/>
          <p:nvPr/>
        </p:nvGrpSpPr>
        <p:grpSpPr>
          <a:xfrm>
            <a:off x="4571989" y="1581135"/>
            <a:ext cx="3990767" cy="2901887"/>
            <a:chOff x="331763" y="414153"/>
            <a:chExt cx="6903246" cy="5019697"/>
          </a:xfrm>
        </p:grpSpPr>
        <p:sp>
          <p:nvSpPr>
            <p:cNvPr id="250" name="Google Shape;250;p46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275" lIns="106275" spcFirstLastPara="1" rIns="106275" wrap="square" tIns="10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6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275" lIns="106275" spcFirstLastPara="1" rIns="106275" wrap="square" tIns="10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6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rgbClr val="325D79"/>
            </a:solidFill>
            <a:ln>
              <a:noFill/>
            </a:ln>
          </p:spPr>
          <p:txBody>
            <a:bodyPr anchorCtr="0" anchor="ctr" bIns="106275" lIns="106275" spcFirstLastPara="1" rIns="106275" wrap="square" tIns="10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27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Create a function in Java that takes an integer as an argument and returns the factorial of that integer.</a:t>
              </a:r>
              <a:endParaRPr sz="1127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7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7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static int factorial(int n) {</a:t>
              </a:r>
              <a:endParaRPr b="1" sz="1127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7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if (n == 0) {</a:t>
              </a:r>
              <a:endParaRPr b="1" sz="1127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7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return 1;</a:t>
              </a:r>
              <a:endParaRPr b="1" sz="1127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7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} else {</a:t>
              </a:r>
              <a:endParaRPr b="1" sz="1127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7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return n * factorial(n - 1);</a:t>
              </a:r>
              <a:endParaRPr b="1" sz="1127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7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}</a:t>
              </a:r>
              <a:endParaRPr b="1" sz="1127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7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1127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27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53" name="Google Shape;253;p46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275" lIns="106275" spcFirstLastPara="1" rIns="106275" wrap="square" tIns="10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7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7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259" name="Google Shape;259;p47"/>
          <p:cNvSpPr txBox="1"/>
          <p:nvPr/>
        </p:nvSpPr>
        <p:spPr>
          <a:xfrm>
            <a:off x="715100" y="1347575"/>
            <a:ext cx="469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Metrics: Pass@1</a:t>
            </a:r>
            <a:endParaRPr sz="18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60" name="Google Shape;260;p47"/>
          <p:cNvSpPr txBox="1"/>
          <p:nvPr/>
        </p:nvSpPr>
        <p:spPr>
          <a:xfrm>
            <a:off x="715100" y="1804775"/>
            <a:ext cx="716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 Medium"/>
              <a:buChar char="-"/>
            </a:pPr>
            <a:r>
              <a:rPr lang="en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Measures functional correctness of the </a:t>
            </a:r>
            <a:r>
              <a:rPr lang="en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generated code with tests</a:t>
            </a:r>
            <a:endParaRPr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61" name="Google Shape;261;p47"/>
          <p:cNvSpPr txBox="1"/>
          <p:nvPr/>
        </p:nvSpPr>
        <p:spPr>
          <a:xfrm>
            <a:off x="715100" y="2357225"/>
            <a:ext cx="469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Benchmarks</a:t>
            </a:r>
            <a:endParaRPr sz="18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62" name="Google Shape;262;p47"/>
          <p:cNvSpPr/>
          <p:nvPr/>
        </p:nvSpPr>
        <p:spPr>
          <a:xfrm>
            <a:off x="1257275" y="3078300"/>
            <a:ext cx="1428900" cy="657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rPr>
              <a:t>HumanEval</a:t>
            </a:r>
            <a:endParaRPr b="1">
              <a:solidFill>
                <a:schemeClr val="accen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63" name="Google Shape;263;p47"/>
          <p:cNvSpPr/>
          <p:nvPr/>
        </p:nvSpPr>
        <p:spPr>
          <a:xfrm>
            <a:off x="2990825" y="3078300"/>
            <a:ext cx="1428900" cy="657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rPr>
              <a:t>HumanEval+</a:t>
            </a:r>
            <a:endParaRPr b="1">
              <a:solidFill>
                <a:schemeClr val="accen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64" name="Google Shape;264;p47"/>
          <p:cNvSpPr/>
          <p:nvPr/>
        </p:nvSpPr>
        <p:spPr>
          <a:xfrm>
            <a:off x="4724375" y="3078300"/>
            <a:ext cx="1428900" cy="657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rPr>
              <a:t>Instruct HumanEval</a:t>
            </a:r>
            <a:endParaRPr b="1">
              <a:solidFill>
                <a:schemeClr val="accen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65" name="Google Shape;265;p47"/>
          <p:cNvSpPr/>
          <p:nvPr/>
        </p:nvSpPr>
        <p:spPr>
          <a:xfrm>
            <a:off x="6457925" y="3078300"/>
            <a:ext cx="1428900" cy="657300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95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rPr>
              <a:t>MultiPL-E</a:t>
            </a:r>
            <a:endParaRPr b="1">
              <a:solidFill>
                <a:schemeClr val="accen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66" name="Google Shape;266;p47"/>
          <p:cNvCxnSpPr/>
          <p:nvPr/>
        </p:nvCxnSpPr>
        <p:spPr>
          <a:xfrm>
            <a:off x="1736872" y="3892988"/>
            <a:ext cx="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47"/>
          <p:cNvCxnSpPr/>
          <p:nvPr/>
        </p:nvCxnSpPr>
        <p:spPr>
          <a:xfrm>
            <a:off x="1728275" y="4085892"/>
            <a:ext cx="3954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47"/>
          <p:cNvCxnSpPr/>
          <p:nvPr/>
        </p:nvCxnSpPr>
        <p:spPr>
          <a:xfrm>
            <a:off x="5672303" y="3889575"/>
            <a:ext cx="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47"/>
          <p:cNvSpPr txBox="1"/>
          <p:nvPr/>
        </p:nvSpPr>
        <p:spPr>
          <a:xfrm>
            <a:off x="2797325" y="4146075"/>
            <a:ext cx="181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Python</a:t>
            </a:r>
            <a:endParaRPr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cxnSp>
        <p:nvCxnSpPr>
          <p:cNvPr id="270" name="Google Shape;270;p47"/>
          <p:cNvCxnSpPr/>
          <p:nvPr/>
        </p:nvCxnSpPr>
        <p:spPr>
          <a:xfrm>
            <a:off x="7172378" y="3889575"/>
            <a:ext cx="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47"/>
          <p:cNvSpPr txBox="1"/>
          <p:nvPr/>
        </p:nvSpPr>
        <p:spPr>
          <a:xfrm>
            <a:off x="5954525" y="4146075"/>
            <a:ext cx="243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Cross Language </a:t>
            </a:r>
            <a:endParaRPr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(C++, Java, JavaScript, …)</a:t>
            </a:r>
            <a:endParaRPr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ICL Approach</a:t>
            </a:r>
            <a:endParaRPr/>
          </a:p>
        </p:txBody>
      </p:sp>
      <p:sp>
        <p:nvSpPr>
          <p:cNvPr id="277" name="Google Shape;277;p48"/>
          <p:cNvSpPr/>
          <p:nvPr/>
        </p:nvSpPr>
        <p:spPr>
          <a:xfrm>
            <a:off x="2243354" y="1438775"/>
            <a:ext cx="1428900" cy="657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rPr>
              <a:t>0-shot</a:t>
            </a:r>
            <a:endParaRPr b="1">
              <a:solidFill>
                <a:schemeClr val="accen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8" name="Google Shape;278;p48"/>
          <p:cNvSpPr/>
          <p:nvPr/>
        </p:nvSpPr>
        <p:spPr>
          <a:xfrm>
            <a:off x="3976904" y="1438775"/>
            <a:ext cx="1428900" cy="657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rPr>
              <a:t>1-shot</a:t>
            </a:r>
            <a:endParaRPr b="1">
              <a:solidFill>
                <a:schemeClr val="accen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9" name="Google Shape;279;p48"/>
          <p:cNvSpPr/>
          <p:nvPr/>
        </p:nvSpPr>
        <p:spPr>
          <a:xfrm>
            <a:off x="5710454" y="1438775"/>
            <a:ext cx="1428900" cy="657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rPr>
              <a:t>3-shot</a:t>
            </a:r>
            <a:endParaRPr b="1">
              <a:solidFill>
                <a:schemeClr val="accen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80" name="Google Shape;280;p48"/>
          <p:cNvSpPr/>
          <p:nvPr/>
        </p:nvSpPr>
        <p:spPr>
          <a:xfrm>
            <a:off x="539042" y="1438775"/>
            <a:ext cx="1428900" cy="657300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 cap="flat" cmpd="sng" w="9525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rPr>
              <a:t>Baseline</a:t>
            </a:r>
            <a:endParaRPr b="1">
              <a:solidFill>
                <a:schemeClr val="accen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81" name="Google Shape;281;p48"/>
          <p:cNvCxnSpPr/>
          <p:nvPr/>
        </p:nvCxnSpPr>
        <p:spPr>
          <a:xfrm flipH="1" rot="10800000">
            <a:off x="2244725" y="2096100"/>
            <a:ext cx="693000" cy="368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48"/>
          <p:cNvSpPr/>
          <p:nvPr/>
        </p:nvSpPr>
        <p:spPr>
          <a:xfrm>
            <a:off x="7444004" y="1438775"/>
            <a:ext cx="1428900" cy="657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rPr>
              <a:t>5</a:t>
            </a:r>
            <a:r>
              <a:rPr b="1" lang="en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rPr>
              <a:t>-shot</a:t>
            </a:r>
            <a:endParaRPr b="1">
              <a:solidFill>
                <a:schemeClr val="accen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83" name="Google Shape;283;p48"/>
          <p:cNvGrpSpPr/>
          <p:nvPr/>
        </p:nvGrpSpPr>
        <p:grpSpPr>
          <a:xfrm>
            <a:off x="539038" y="2451161"/>
            <a:ext cx="3333578" cy="2424012"/>
            <a:chOff x="331763" y="414153"/>
            <a:chExt cx="6903246" cy="5019697"/>
          </a:xfrm>
        </p:grpSpPr>
        <p:sp>
          <p:nvSpPr>
            <p:cNvPr id="284" name="Google Shape;284;p48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8775" lIns="88775" spcFirstLastPara="1" rIns="88775" wrap="square" tIns="88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48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8775" lIns="88775" spcFirstLastPara="1" rIns="88775" wrap="square" tIns="88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48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rgbClr val="325D79"/>
            </a:solidFill>
            <a:ln>
              <a:noFill/>
            </a:ln>
          </p:spPr>
          <p:txBody>
            <a:bodyPr anchorCtr="0" anchor="ctr" bIns="88775" lIns="88775" spcFirstLastPara="1" rIns="88775" wrap="square" tIns="88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PREFIX_0_SHOT = 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'''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You are an expert Python programmer.  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Given a problem description, write a correct Python function that satisfies the requirements.  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Return only executable Python code and nothing else.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'''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4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7" name="Google Shape;287;p48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8775" lIns="88775" spcFirstLastPara="1" rIns="88775" wrap="square" tIns="88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9"/>
            </a:p>
          </p:txBody>
        </p:sp>
      </p:grpSp>
      <p:grpSp>
        <p:nvGrpSpPr>
          <p:cNvPr id="288" name="Google Shape;288;p48"/>
          <p:cNvGrpSpPr/>
          <p:nvPr/>
        </p:nvGrpSpPr>
        <p:grpSpPr>
          <a:xfrm>
            <a:off x="4758100" y="2451161"/>
            <a:ext cx="3333578" cy="2424012"/>
            <a:chOff x="331763" y="414153"/>
            <a:chExt cx="6903246" cy="5019697"/>
          </a:xfrm>
        </p:grpSpPr>
        <p:sp>
          <p:nvSpPr>
            <p:cNvPr id="289" name="Google Shape;289;p48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8775" lIns="88775" spcFirstLastPara="1" rIns="88775" wrap="square" tIns="88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48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8775" lIns="88775" spcFirstLastPara="1" rIns="88775" wrap="square" tIns="88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8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rgbClr val="325D79"/>
            </a:solidFill>
            <a:ln>
              <a:noFill/>
            </a:ln>
          </p:spPr>
          <p:txBody>
            <a:bodyPr anchorCtr="0" anchor="ctr" bIns="88775" lIns="88775" spcFirstLastPara="1" rIns="88775" wrap="square" tIns="88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PREFIX_1_SHOT = """ 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Here are some examples: 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### Example 1 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def factorial(n): 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    if n == 0 or n == 1: return 1 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    return n * factorial(n - 1) 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41">
                  <a:solidFill>
                    <a:schemeClr val="lt1"/>
                  </a:solidFill>
                  <a:latin typeface="Alexandria"/>
                  <a:ea typeface="Alexandria"/>
                  <a:cs typeface="Alexandria"/>
                  <a:sym typeface="Alexandria"/>
                </a:rPr>
                <a:t>"""</a:t>
              </a:r>
              <a:endParaRPr sz="1141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4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2" name="Google Shape;292;p48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8775" lIns="88775" spcFirstLastPara="1" rIns="88775" wrap="square" tIns="88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9"/>
            </a:p>
          </p:txBody>
        </p:sp>
      </p:grpSp>
      <p:cxnSp>
        <p:nvCxnSpPr>
          <p:cNvPr id="293" name="Google Shape;293;p48"/>
          <p:cNvCxnSpPr>
            <a:endCxn id="278" idx="2"/>
          </p:cNvCxnSpPr>
          <p:nvPr/>
        </p:nvCxnSpPr>
        <p:spPr>
          <a:xfrm rot="10800000">
            <a:off x="4691354" y="2096075"/>
            <a:ext cx="1393500" cy="34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9"/>
          <p:cNvPicPr preferRelativeResize="0"/>
          <p:nvPr/>
        </p:nvPicPr>
        <p:blipFill rotWithShape="1">
          <a:blip r:embed="rId3">
            <a:alphaModFix/>
          </a:blip>
          <a:srcRect b="7287" l="0" r="0" t="48409"/>
          <a:stretch/>
        </p:blipFill>
        <p:spPr>
          <a:xfrm>
            <a:off x="4470300" y="1459175"/>
            <a:ext cx="4240375" cy="76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9"/>
          <p:cNvSpPr txBox="1"/>
          <p:nvPr>
            <p:ph idx="4294967295" type="title"/>
          </p:nvPr>
        </p:nvSpPr>
        <p:spPr>
          <a:xfrm>
            <a:off x="638100" y="559475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ICL Result</a:t>
            </a:r>
            <a:endParaRPr/>
          </a:p>
        </p:txBody>
      </p:sp>
      <p:sp>
        <p:nvSpPr>
          <p:cNvPr id="300" name="Google Shape;300;p49"/>
          <p:cNvSpPr txBox="1"/>
          <p:nvPr>
            <p:ph idx="1" type="subTitle"/>
          </p:nvPr>
        </p:nvSpPr>
        <p:spPr>
          <a:xfrm>
            <a:off x="528100" y="1229800"/>
            <a:ext cx="3523200" cy="3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For Deepseek Coder Instruct, we found that </a:t>
            </a:r>
            <a:r>
              <a:rPr b="1" lang="en" sz="1600"/>
              <a:t>baseline</a:t>
            </a:r>
            <a:r>
              <a:rPr lang="en" sz="1600"/>
              <a:t> performs better than the few-shots prompts.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As a small model, the model tends to treat the prefix as noise?</a:t>
            </a:r>
            <a:endParaRPr sz="1600"/>
          </a:p>
        </p:txBody>
      </p:sp>
      <p:sp>
        <p:nvSpPr>
          <p:cNvPr id="301" name="Google Shape;301;p49"/>
          <p:cNvSpPr/>
          <p:nvPr/>
        </p:nvSpPr>
        <p:spPr>
          <a:xfrm>
            <a:off x="6321388" y="1911250"/>
            <a:ext cx="538200" cy="17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02" name="Google Shape;302;p49" title="Screenshot 2025-12-01 at 7.14.2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0288" y="2575188"/>
            <a:ext cx="3881724" cy="15983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9"/>
          <p:cNvSpPr/>
          <p:nvPr/>
        </p:nvSpPr>
        <p:spPr>
          <a:xfrm>
            <a:off x="6814768" y="3758650"/>
            <a:ext cx="1329000" cy="17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50"/>
          <p:cNvPicPr preferRelativeResize="0"/>
          <p:nvPr/>
        </p:nvPicPr>
        <p:blipFill rotWithShape="1">
          <a:blip r:embed="rId3">
            <a:alphaModFix/>
          </a:blip>
          <a:srcRect b="7284" l="0" r="0" t="48938"/>
          <a:stretch/>
        </p:blipFill>
        <p:spPr>
          <a:xfrm>
            <a:off x="4470300" y="1468237"/>
            <a:ext cx="4240375" cy="75471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50"/>
          <p:cNvSpPr txBox="1"/>
          <p:nvPr>
            <p:ph idx="4294967295" type="title"/>
          </p:nvPr>
        </p:nvSpPr>
        <p:spPr>
          <a:xfrm>
            <a:off x="638100" y="559475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ICL Result</a:t>
            </a:r>
            <a:endParaRPr/>
          </a:p>
        </p:txBody>
      </p:sp>
      <p:sp>
        <p:nvSpPr>
          <p:cNvPr id="310" name="Google Shape;310;p50"/>
          <p:cNvSpPr txBox="1"/>
          <p:nvPr>
            <p:ph idx="1" type="subTitle"/>
          </p:nvPr>
        </p:nvSpPr>
        <p:spPr>
          <a:xfrm>
            <a:off x="528100" y="1229800"/>
            <a:ext cx="3523200" cy="3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Qwen Coder Instruct benefits significantly from few-shot examples.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performance increases with the number of shots, indicating effective pattern learning from examples.</a:t>
            </a:r>
            <a:endParaRPr sz="1600"/>
          </a:p>
        </p:txBody>
      </p:sp>
      <p:sp>
        <p:nvSpPr>
          <p:cNvPr id="311" name="Google Shape;311;p50"/>
          <p:cNvSpPr/>
          <p:nvPr/>
        </p:nvSpPr>
        <p:spPr>
          <a:xfrm>
            <a:off x="6321388" y="1911250"/>
            <a:ext cx="538200" cy="17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12" name="Google Shape;312;p50" title="Screenshot 2025-12-01 at 7.14.2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0288" y="2575188"/>
            <a:ext cx="3881724" cy="1598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50"/>
          <p:cNvSpPr/>
          <p:nvPr/>
        </p:nvSpPr>
        <p:spPr>
          <a:xfrm>
            <a:off x="6777793" y="3617575"/>
            <a:ext cx="1329000" cy="17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51" title="qwen_ac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525" y="1776500"/>
            <a:ext cx="4120550" cy="216490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51"/>
          <p:cNvSpPr txBox="1"/>
          <p:nvPr>
            <p:ph idx="4294967295"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SFT - Hyperparameter Sweep</a:t>
            </a:r>
            <a:endParaRPr/>
          </a:p>
        </p:txBody>
      </p:sp>
      <p:pic>
        <p:nvPicPr>
          <p:cNvPr id="320" name="Google Shape;320;p51" title="qwen_ac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525" y="1776500"/>
            <a:ext cx="4120550" cy="216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51" title="qwen_loss.png"/>
          <p:cNvPicPr preferRelativeResize="0"/>
          <p:nvPr/>
        </p:nvPicPr>
        <p:blipFill rotWithShape="1">
          <a:blip r:embed="rId4">
            <a:alphaModFix/>
          </a:blip>
          <a:srcRect b="0" l="0" r="0" t="4879"/>
          <a:stretch/>
        </p:blipFill>
        <p:spPr>
          <a:xfrm>
            <a:off x="4401100" y="1776500"/>
            <a:ext cx="4566252" cy="216490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1"/>
          <p:cNvSpPr/>
          <p:nvPr/>
        </p:nvSpPr>
        <p:spPr>
          <a:xfrm>
            <a:off x="2645075" y="2007800"/>
            <a:ext cx="801900" cy="171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1"/>
          <p:cNvSpPr/>
          <p:nvPr/>
        </p:nvSpPr>
        <p:spPr>
          <a:xfrm>
            <a:off x="7196808" y="1913525"/>
            <a:ext cx="801900" cy="171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/>
          <p:nvPr>
            <p:ph idx="4294967295"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SFT - Hyperparameter Sweep</a:t>
            </a:r>
            <a:endParaRPr/>
          </a:p>
        </p:txBody>
      </p:sp>
      <p:pic>
        <p:nvPicPr>
          <p:cNvPr id="329" name="Google Shape;329;p52" title="deepseek_ac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513" y="1776499"/>
            <a:ext cx="4120571" cy="216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2" title="deepseek_loss.png"/>
          <p:cNvPicPr preferRelativeResize="0"/>
          <p:nvPr/>
        </p:nvPicPr>
        <p:blipFill rotWithShape="1">
          <a:blip r:embed="rId4">
            <a:alphaModFix/>
          </a:blip>
          <a:srcRect b="0" l="0" r="0" t="4879"/>
          <a:stretch/>
        </p:blipFill>
        <p:spPr>
          <a:xfrm>
            <a:off x="4401100" y="1776500"/>
            <a:ext cx="4566252" cy="216490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2"/>
          <p:cNvSpPr/>
          <p:nvPr/>
        </p:nvSpPr>
        <p:spPr>
          <a:xfrm>
            <a:off x="2645075" y="2007800"/>
            <a:ext cx="968100" cy="171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52"/>
          <p:cNvSpPr/>
          <p:nvPr/>
        </p:nvSpPr>
        <p:spPr>
          <a:xfrm>
            <a:off x="7185175" y="1911725"/>
            <a:ext cx="1032300" cy="171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3"/>
          <p:cNvSpPr txBox="1"/>
          <p:nvPr>
            <p:ph idx="4294967295"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SFT Results</a:t>
            </a:r>
            <a:endParaRPr/>
          </a:p>
        </p:txBody>
      </p:sp>
      <p:pic>
        <p:nvPicPr>
          <p:cNvPr id="338" name="Google Shape;338;p53" title="Screenshot 2025-11-28 at 8.13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825" y="1436399"/>
            <a:ext cx="3818682" cy="15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3" title="Screenshot 2025-11-28 at 8.14.4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0375" y="1400137"/>
            <a:ext cx="3691925" cy="16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53"/>
          <p:cNvSpPr txBox="1"/>
          <p:nvPr>
            <p:ph idx="1" type="subTitle"/>
          </p:nvPr>
        </p:nvSpPr>
        <p:spPr>
          <a:xfrm>
            <a:off x="671750" y="3285975"/>
            <a:ext cx="7800600" cy="9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Both model shows improvement on </a:t>
            </a:r>
            <a:r>
              <a:rPr b="1" lang="en" sz="1800"/>
              <a:t>InstructHumanEval</a:t>
            </a:r>
            <a:r>
              <a:rPr lang="en" sz="1800"/>
              <a:t>, indicating successful adaptation to instruction-following formats.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4"/>
          <p:cNvSpPr txBox="1"/>
          <p:nvPr>
            <p:ph idx="4294967295"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SFT Results</a:t>
            </a:r>
            <a:endParaRPr/>
          </a:p>
        </p:txBody>
      </p:sp>
      <p:pic>
        <p:nvPicPr>
          <p:cNvPr id="346" name="Google Shape;346;p54" title="Screenshot 2025-11-28 at 8.13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825" y="1436399"/>
            <a:ext cx="3818682" cy="15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4" title="Screenshot 2025-11-28 at 8.14.4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0375" y="1400137"/>
            <a:ext cx="3691925" cy="16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4"/>
          <p:cNvSpPr txBox="1"/>
          <p:nvPr>
            <p:ph idx="1" type="subTitle"/>
          </p:nvPr>
        </p:nvSpPr>
        <p:spPr>
          <a:xfrm>
            <a:off x="671750" y="3285975"/>
            <a:ext cx="7800600" cy="9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For Deepseek, </a:t>
            </a:r>
            <a:r>
              <a:rPr lang="en" sz="1800"/>
              <a:t>SFT improves performance across all Python benchmarks but Qwen exhibits severe performance degradation after fine-tuning…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5"/>
          <p:cNvSpPr txBox="1"/>
          <p:nvPr>
            <p:ph idx="4294967295"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SFT Results</a:t>
            </a:r>
            <a:endParaRPr/>
          </a:p>
        </p:txBody>
      </p:sp>
      <p:pic>
        <p:nvPicPr>
          <p:cNvPr id="354" name="Google Shape;354;p55" title="Screenshot 2025-11-28 at 8.13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825" y="1436399"/>
            <a:ext cx="3818682" cy="15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5" title="Screenshot 2025-11-28 at 8.14.4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0375" y="1400137"/>
            <a:ext cx="3691925" cy="16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5"/>
          <p:cNvSpPr txBox="1"/>
          <p:nvPr>
            <p:ph idx="1" type="subTitle"/>
          </p:nvPr>
        </p:nvSpPr>
        <p:spPr>
          <a:xfrm>
            <a:off x="671750" y="3285975"/>
            <a:ext cx="7800600" cy="9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Maybe Qwen specialized too heavily on the instruction-response format of the training data ?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6"/>
          <p:cNvSpPr txBox="1"/>
          <p:nvPr>
            <p:ph idx="4294967295" type="ctrTitle"/>
          </p:nvPr>
        </p:nvSpPr>
        <p:spPr>
          <a:xfrm>
            <a:off x="835200" y="2031750"/>
            <a:ext cx="7473600" cy="10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Thank You For Your Attention!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